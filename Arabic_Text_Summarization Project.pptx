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Urbanist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7F638A-481D-4048-913F-CECDC4B8B08F}" v="9" dt="2026-05-13T20:28:16.230"/>
  </p1510:revLst>
</p1510:revInfo>
</file>

<file path=ppt/tableStyles.xml><?xml version="1.0" encoding="utf-8"?>
<a:tblStyleLst xmlns:a="http://schemas.openxmlformats.org/drawingml/2006/main" def="{A17F9F0D-F491-411F-9D1E-D6E36AF1CD32}">
  <a:tblStyle styleId="{A17F9F0D-F491-411F-9D1E-D6E36AF1CD3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95275" y="2604194"/>
            <a:ext cx="11601600" cy="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Arabic Text </a:t>
            </a:r>
            <a:r>
              <a:rPr lang="en-US" sz="54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Summarization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2286000" y="3613844"/>
            <a:ext cx="7620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Deep Learning Approach using Seq2Seq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4100"/>
            <a:ext cx="35559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324100"/>
            <a:ext cx="35559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324100"/>
            <a:ext cx="3555950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866775" y="3219450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Morphological Richness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66775" y="3686175"/>
            <a:ext cx="29654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Arabic is highly inflectional with complex root-pattern structures, making vocabulary size and word forms a significant challenge for NLP models.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4613225" y="3219450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Dialectal Variance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4613225" y="3686175"/>
            <a:ext cx="29654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transition between Modern Standard Arabic (MSA) and various dialects (like Egyptian) requires robust cross-dialectal understanding.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359675" y="3219450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Abstractive Tasks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359675" y="3686175"/>
            <a:ext cx="29654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Moving beyond simple extraction to "abstractive" generation requires the model to paraphrase and synthesize new sentences accurately.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4795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26479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26479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Linguistic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Challenges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952500" y="3167062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Dataset Consolidation: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Merge four diverse Arabic news corpora into a single unified training environment.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52500" y="3576637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Architecture Design: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Build a custom Seq2Seq model using Bidirectional LSTM and Bahdanau Attention from scratch.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52500" y="3986212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Preprocessing Pipeline: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Implement rigorous text cleaning and AraBART-based tokenization for Arabic script.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52500" y="4395787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Performance Tuning: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Utilize teacher forcing, gradient clipping, and early stopping to optimize ROUGE metrics.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051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147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2431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338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Core Project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Objectives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71500" y="519112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chemeClr val="accent2"/>
                </a:solidFill>
                <a:latin typeface="Urbanist"/>
                <a:ea typeface="Urbanist"/>
                <a:cs typeface="Urbanist"/>
                <a:sym typeface="Urbanist"/>
              </a:rPr>
              <a:t>Final merged training set size: </a:t>
            </a:r>
            <a:r>
              <a:rPr lang="en-US" sz="1500" b="1" i="1" u="none" strike="noStrike" cap="none">
                <a:solidFill>
                  <a:schemeClr val="accent2"/>
                </a:solidFill>
                <a:latin typeface="Urbanist"/>
                <a:ea typeface="Urbanist"/>
                <a:cs typeface="Urbanist"/>
                <a:sym typeface="Urbanist"/>
              </a:rPr>
              <a:t>46,911</a:t>
            </a:r>
            <a:r>
              <a:rPr lang="en-US" sz="1500" b="0" i="1" u="none" strike="noStrike" cap="none">
                <a:solidFill>
                  <a:schemeClr val="accent2"/>
                </a:solidFill>
                <a:latin typeface="Urbanist"/>
                <a:ea typeface="Urbanist"/>
                <a:cs typeface="Urbanist"/>
                <a:sym typeface="Urbanist"/>
              </a:rPr>
              <a:t> high-quality article-headline pairs.</a:t>
            </a:r>
            <a:endParaRPr>
              <a:solidFill>
                <a:schemeClr val="accent2"/>
              </a:solidFill>
            </a:endParaRPr>
          </a:p>
        </p:txBody>
      </p:sp>
      <p:graphicFrame>
        <p:nvGraphicFramePr>
          <p:cNvPr id="124" name="Google Shape;124;p16"/>
          <p:cNvGraphicFramePr/>
          <p:nvPr/>
        </p:nvGraphicFramePr>
        <p:xfrm>
          <a:off x="571500" y="2181225"/>
          <a:ext cx="11049000" cy="2819375"/>
        </p:xfrm>
        <a:graphic>
          <a:graphicData uri="http://schemas.openxmlformats.org/drawingml/2006/table">
            <a:tbl>
              <a:tblPr firstRow="1" bandRow="1">
                <a:noFill/>
                <a:tableStyleId>{A17F9F0D-F491-411F-9D1E-D6E36AF1CD32}</a:tableStyleId>
              </a:tblPr>
              <a:tblGrid>
                <a:gridCol w="222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3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accent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Dataset Name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accent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Format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accent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Content Description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SumArabic 1.0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JSONL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MSA news articles and headlines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AraSum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TSV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Large corpus for abstractive summaries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Egyptian News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Parquet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Moderate size featuring Egyptian dialect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Arabic Kaggle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CSV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General news summarization data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5" name="Google Shape;125;p16"/>
          <p:cNvSpPr/>
          <p:nvPr/>
        </p:nvSpPr>
        <p:spPr>
          <a:xfrm>
            <a:off x="571500" y="2724150"/>
            <a:ext cx="2226319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2797819" y="2724150"/>
            <a:ext cx="1341239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4139058" y="2724150"/>
            <a:ext cx="5393084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9532143" y="2724150"/>
            <a:ext cx="2088356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71500" y="3300412"/>
            <a:ext cx="22263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2797819" y="3300412"/>
            <a:ext cx="134123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4139058" y="3300412"/>
            <a:ext cx="539308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9532143" y="3300412"/>
            <a:ext cx="20883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71500" y="3862387"/>
            <a:ext cx="22263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2797819" y="3862387"/>
            <a:ext cx="134123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4139058" y="3862387"/>
            <a:ext cx="539308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9532143" y="3862387"/>
            <a:ext cx="20883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571500" y="4424362"/>
            <a:ext cx="22263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2797819" y="4424362"/>
            <a:ext cx="134123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4139058" y="4424362"/>
            <a:ext cx="539308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9532143" y="4424362"/>
            <a:ext cx="20883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71500" y="4986337"/>
            <a:ext cx="22263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2797819" y="4986337"/>
            <a:ext cx="134123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4139058" y="4986337"/>
            <a:ext cx="539308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9532143" y="4986337"/>
            <a:ext cx="20883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571500" y="571500"/>
            <a:ext cx="11601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Multi-Source </a:t>
            </a:r>
            <a:r>
              <a:rPr lang="en-US" sz="3900" b="1" i="0" u="none" strike="noStrike" cap="none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Datasets</a:t>
            </a:r>
            <a:endParaRPr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228725"/>
            <a:ext cx="5334000" cy="537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238250"/>
            <a:ext cx="5314950" cy="535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952500" y="1381125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Cleaning: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Collapsed whitespace, removed Latin chars and guillemets (»«).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952500" y="2057400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Noise Removal: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Stripped Unicode control characters and parenthetical numbers.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52500" y="2733675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Normalization: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Standardized punctuation (ellipses to periods, % symbols).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52500" y="3409950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Dialect Handling: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Standardized text and target column headers for consistency.</a:t>
            </a:r>
            <a:endParaRPr/>
          </a:p>
        </p:txBody>
      </p:sp>
      <p:pic>
        <p:nvPicPr>
          <p:cNvPr id="157" name="Google Shape;15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4192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09550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277177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3448050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571500" y="257175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Data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Standardization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2009775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19700" y="2405062"/>
            <a:ext cx="64008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2019300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5514975" y="2700337"/>
            <a:ext cx="610076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SentencePiece Encoding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514975" y="3167062"/>
            <a:ext cx="58102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 used the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moussakam/AraBART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tokenizer from Hugging Face, specifically designed for the morphological nuances of Arabic.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5895975" y="3890962"/>
            <a:ext cx="5429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Max Source Length: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1,024 tokens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895975" y="4300537"/>
            <a:ext cx="5429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Max Target Length: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256 tokens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895975" y="4710112"/>
            <a:ext cx="5429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Training Caps: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256 (Encoder) / 128 (Decoder)</a:t>
            </a:r>
            <a:endParaRPr/>
          </a:p>
        </p:txBody>
      </p:sp>
      <p:pic>
        <p:nvPicPr>
          <p:cNvPr id="175" name="Google Shape;17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14975" y="39290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14975" y="43386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514975" y="4748212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AraBART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Tokenization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90800"/>
            <a:ext cx="35559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590800"/>
            <a:ext cx="35559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590800"/>
            <a:ext cx="3555950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866775" y="3486150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Bi-LSTM Layers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866775" y="3952875"/>
            <a:ext cx="29654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Processes text in both forward and backward directions to capture context from the whole sentence.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4613225" y="3486150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Embeddings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4613225" y="3952875"/>
            <a:ext cx="29654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256-dimensional embedding layer converting token IDs into dense semantic vectors.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359675" y="3486150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Hidden State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8359675" y="3952875"/>
            <a:ext cx="29654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512 hidden units per direction, resulting in a 1024-dimensional combined context for the decoder.</a:t>
            </a:r>
            <a:endParaRPr/>
          </a:p>
        </p:txBody>
      </p:sp>
      <p:pic>
        <p:nvPicPr>
          <p:cNvPr id="193" name="Google Shape;19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9146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29146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29146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Bidirectional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Encoder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/>
          <p:nvPr/>
        </p:nvSpPr>
        <p:spPr>
          <a:xfrm>
            <a:off x="571500" y="2006203"/>
            <a:ext cx="52006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Bahdanau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Attention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571500" y="3168253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decoder focuses on specific encoder parts at each generation step, calculating a dynamic context vector.</a:t>
            </a:r>
            <a:endParaRPr/>
          </a:p>
        </p:txBody>
      </p:sp>
      <p:pic>
        <p:nvPicPr>
          <p:cNvPr id="205" name="Google Shape;20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38525"/>
            <a:ext cx="1104900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543050"/>
            <a:ext cx="2619375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81375" y="1543050"/>
            <a:ext cx="2619375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1543050"/>
            <a:ext cx="2619375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01125" y="1543050"/>
            <a:ext cx="2619375" cy="15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866775" y="3924300"/>
            <a:ext cx="10458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Optimization: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Adam Optimizer with CrossEntropyLoss (ignoring padding).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Teacher Forcing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implemented to stabilize early training phases by providing actual ground-truth summaries as inputs to the decoder.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Model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Hyperparameters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67050"/>
            <a:ext cx="1104900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543050"/>
            <a:ext cx="110490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866775" y="3552825"/>
            <a:ext cx="10458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Results computed on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decoded Arabic text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rather than token IDs. This ensures that linguistic quality, rather than just sequence overlap, is captured in the evaluation. ROUGE scores reflect initial abstractive capabilities built from scratch.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Performance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Metrics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952500" y="3176587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Truncation Loss: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Long articles shortened to 256 tokens might lose deep context from the conclusion.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952500" y="3852862"/>
            <a:ext cx="4953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Decoding Strategy: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Current implementation uses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Greedy Decoding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; more complex outputs could benefit from Beam Search.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6667500" y="3176587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 Pre-training: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Weights were initialized from scratch rather than fine-tuning massive models like AraBART.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6667500" y="3852862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Dialectal Noise: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Mixed MSA and Egyptian text occasionally confused the semantic consistency.</a:t>
            </a:r>
            <a:endParaRPr/>
          </a:p>
        </p:txBody>
      </p:sp>
      <p:pic>
        <p:nvPicPr>
          <p:cNvPr id="238" name="Google Shape;23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146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909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21468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3890962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System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Limitations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 txBox="1"/>
          <p:nvPr/>
        </p:nvSpPr>
        <p:spPr>
          <a:xfrm>
            <a:off x="295275" y="1887884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Conclusion &amp; </a:t>
            </a:r>
            <a:r>
              <a:rPr lang="en-US" sz="6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QA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2286000" y="4650134"/>
            <a:ext cx="7620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attention!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2667000" y="3183284"/>
            <a:ext cx="7239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Next Step: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Fine-tuning pre-trained AraBART for SOTA results.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2667000" y="3592859"/>
            <a:ext cx="7239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Search: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Implementation of Beam Search (Width 4-8).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2667000" y="4002434"/>
            <a:ext cx="7239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Mechanism: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Adding Pointer-Generator networks to handle OOV names.</a:t>
            </a:r>
            <a:endParaRPr/>
          </a:p>
        </p:txBody>
      </p:sp>
      <p:pic>
        <p:nvPicPr>
          <p:cNvPr id="253" name="Google Shape;25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322138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86000" y="363095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86000" y="4040534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14</cp:revision>
  <dcterms:modified xsi:type="dcterms:W3CDTF">2026-05-13T20:28:33Z</dcterms:modified>
</cp:coreProperties>
</file>